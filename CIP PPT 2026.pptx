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1" r:id="rId4"/>
  </p:sldMasterIdLst>
  <p:notesMasterIdLst>
    <p:notesMasterId r:id="rId22"/>
  </p:notesMasterIdLst>
  <p:handoutMasterIdLst>
    <p:handoutMasterId r:id="rId23"/>
  </p:handoutMasterIdLst>
  <p:sldIdLst>
    <p:sldId id="256" r:id="rId5"/>
    <p:sldId id="277" r:id="rId6"/>
    <p:sldId id="308" r:id="rId7"/>
    <p:sldId id="261" r:id="rId8"/>
    <p:sldId id="307" r:id="rId9"/>
    <p:sldId id="305" r:id="rId10"/>
    <p:sldId id="264" r:id="rId11"/>
    <p:sldId id="309" r:id="rId12"/>
    <p:sldId id="310" r:id="rId13"/>
    <p:sldId id="313" r:id="rId14"/>
    <p:sldId id="300" r:id="rId15"/>
    <p:sldId id="311" r:id="rId16"/>
    <p:sldId id="312" r:id="rId17"/>
    <p:sldId id="301" r:id="rId18"/>
    <p:sldId id="302" r:id="rId19"/>
    <p:sldId id="303" r:id="rId20"/>
    <p:sldId id="30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3C5D2-C642-4C73-A7FC-FB758AFA2B57}" v="1609" dt="2026-04-25T10:51:03.605"/>
    <p1510:client id="{50DB958B-32D2-4540-9B94-91779D52E2E7}" v="528" dt="2026-04-25T16:59:57.297"/>
    <p1510:client id="{B53609B8-45D0-4EBA-BC1A-049E43CBBBCF}" v="86" dt="2026-04-25T15:27:18.656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870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070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152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205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093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410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114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819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653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37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534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66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612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8487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526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815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12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9F74E-3B2E-4EB3-9B29-B4B77B0879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BAC26-3D8C-4AD7-B252-016CA76EE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843294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7751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40806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2546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10479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6062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3570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2324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6130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2665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Pitch Deck</a:t>
            </a:r>
            <a:endParaRPr lang="en-US" noProof="0" dirty="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673" r:id="rId13"/>
    <p:sldLayoutId id="2147483699" r:id="rId14"/>
    <p:sldLayoutId id="2147483700" r:id="rId15"/>
    <p:sldLayoutId id="2147483692" r:id="rId16"/>
    <p:sldLayoutId id="2147483681" r:id="rId17"/>
    <p:sldLayoutId id="214748369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kanchiuniv.ac.in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BB2BB5-2B6E-A6C8-4E19-1DB6DD549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36" y="178888"/>
            <a:ext cx="1335693" cy="1335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75A3D9-DDF7-5E2A-0E9B-19B210CE869F}"/>
              </a:ext>
            </a:extLst>
          </p:cNvPr>
          <p:cNvSpPr txBox="1"/>
          <p:nvPr/>
        </p:nvSpPr>
        <p:spPr>
          <a:xfrm>
            <a:off x="1651000" y="178888"/>
            <a:ext cx="9371227" cy="21544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2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SRI CHANDRASEKHARENDRA SARASWATHI VISWA MAHA VIDHYALAYA</a:t>
            </a:r>
          </a:p>
          <a:p>
            <a:pPr algn="ctr"/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(Deemed to be university u/s 3 of UGC act 1956)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(Accredited with “A” by NAAC)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Enathur</a:t>
            </a: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Kanchipuram – 631561. </a:t>
            </a:r>
            <a:r>
              <a:rPr lang="en-US" sz="1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Tamilnadu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www.kanchiuniv.ac.in</a:t>
            </a:r>
            <a:endParaRPr lang="en-US" sz="1000" b="1" i="0" u="sng" strike="noStrike" cap="none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1400" b="1" u="sng" dirty="0">
              <a:solidFill>
                <a:schemeClr val="hlink"/>
              </a:solidFill>
              <a:latin typeface="Arial"/>
              <a:ea typeface="Calibri"/>
              <a:cs typeface="Arial"/>
              <a:sym typeface="Arial"/>
            </a:endParaRPr>
          </a:p>
          <a:p>
            <a:pPr algn="ctr"/>
            <a:r>
              <a:rPr lang="en-US" b="1">
                <a:solidFill>
                  <a:srgbClr val="002060"/>
                </a:solidFill>
                <a:latin typeface="Arial"/>
                <a:ea typeface="Calibri"/>
                <a:cs typeface="Arial"/>
                <a:sym typeface="Arial"/>
              </a:rPr>
              <a:t>DEPARTMENT  OF  COMPUTER  SCIENCE &amp; ENGINEERING</a:t>
            </a:r>
            <a:br>
              <a:rPr lang="en-US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EAD7C0-7AB1-D53C-1C89-D00A9178EBAD}"/>
              </a:ext>
            </a:extLst>
          </p:cNvPr>
          <p:cNvSpPr txBox="1">
            <a:spLocks/>
          </p:cNvSpPr>
          <p:nvPr/>
        </p:nvSpPr>
        <p:spPr>
          <a:xfrm>
            <a:off x="226781" y="1664413"/>
            <a:ext cx="11845353" cy="5140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BCSF186Z90</a:t>
            </a:r>
            <a:r>
              <a:rPr lang="en-US" sz="2800" b="1" i="0" u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-CIP </a:t>
            </a:r>
            <a:r>
              <a:rPr lang="en-US" sz="2800" b="1" i="0" u="none" cap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Project</a:t>
            </a:r>
            <a:r>
              <a:rPr lang="en-US" sz="2800" b="1" i="0" u="none" dirty="0">
                <a:solidFill>
                  <a:srgbClr val="0070C0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b="1" i="0" u="none" cap="none">
                <a:solidFill>
                  <a:srgbClr val="0070C0"/>
                </a:solidFill>
                <a:ea typeface="Arial"/>
                <a:cs typeface="Arial"/>
                <a:sym typeface="Arial"/>
              </a:rPr>
              <a:t>Work</a:t>
            </a:r>
            <a:endParaRPr lang="en-US" sz="2800" b="1">
              <a:solidFill>
                <a:srgbClr val="0070C0"/>
              </a:solidFill>
              <a:effectLst/>
              <a:ea typeface="Calibri" panose="020F0502020204030204" pitchFamily="34" charset="0"/>
              <a:cs typeface="Arial"/>
            </a:endParaRPr>
          </a:p>
          <a:p>
            <a:pPr algn="ctr"/>
            <a:endParaRPr lang="en-US" sz="1000" b="1" i="0" u="none" dirty="0">
              <a:solidFill>
                <a:srgbClr val="92D050"/>
              </a:solidFill>
              <a:ea typeface="Arial"/>
              <a:cs typeface="Arial"/>
            </a:endParaRPr>
          </a:p>
          <a:p>
            <a:pPr algn="ctr"/>
            <a:r>
              <a:rPr lang="en-US" sz="3000" b="1">
                <a:solidFill>
                  <a:schemeClr val="tx1"/>
                </a:solidFill>
                <a:ea typeface="Calibri"/>
                <a:cs typeface="Latha"/>
                <a:sym typeface="Arial"/>
              </a:rPr>
              <a:t>AI MATH TUTOR</a:t>
            </a:r>
            <a:endParaRPr lang="en-US" sz="1800" b="1" i="0" u="none" cap="none">
              <a:solidFill>
                <a:schemeClr val="tx1"/>
              </a:solidFill>
              <a:ea typeface="Calibri"/>
              <a:cs typeface="Latha"/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  <a:ea typeface="Calibri"/>
                <a:cs typeface="Latha"/>
                <a:sym typeface="Arial"/>
              </a:rPr>
              <a:t>11239a050 KONGARA DHEERAJ</a:t>
            </a:r>
            <a:endParaRPr lang="en-US" sz="3200" b="1" cap="none">
              <a:solidFill>
                <a:schemeClr val="tx1"/>
              </a:solidFill>
              <a:ea typeface="Calibri Light"/>
              <a:cs typeface="Arial"/>
            </a:endParaRPr>
          </a:p>
          <a:p>
            <a:pPr algn="ctr"/>
            <a:r>
              <a:rPr lang="en-US" sz="2400" b="1" cap="none">
                <a:solidFill>
                  <a:schemeClr val="tx1"/>
                </a:solidFill>
                <a:ea typeface="Calibri"/>
                <a:cs typeface="Latha"/>
              </a:rPr>
              <a:t>11239A090 STUTIPRIYA SHADANGI</a:t>
            </a:r>
          </a:p>
          <a:p>
            <a:pPr algn="ctr"/>
            <a:endParaRPr lang="en-US" sz="3200" b="1" i="0" u="none" dirty="0">
              <a:solidFill>
                <a:schemeClr val="dk1"/>
              </a:solidFill>
              <a:ea typeface="Arial"/>
              <a:cs typeface="Arial"/>
            </a:endParaRPr>
          </a:p>
          <a:p>
            <a:pPr algn="ctr"/>
            <a:r>
              <a:rPr lang="en-US" sz="2800" b="1" i="0" u="none" cap="none">
                <a:solidFill>
                  <a:srgbClr val="00B0F0"/>
                </a:solidFill>
                <a:ea typeface="Arial"/>
                <a:cs typeface="Arial"/>
                <a:sym typeface="Arial"/>
              </a:rPr>
              <a:t>Guided By</a:t>
            </a:r>
            <a:endParaRPr lang="en-US" sz="1800" b="1" i="0" u="none">
              <a:solidFill>
                <a:srgbClr val="404040"/>
              </a:solidFill>
              <a:ea typeface="Calibri"/>
              <a:cs typeface="Latha"/>
            </a:endParaRPr>
          </a:p>
          <a:p>
            <a:pPr algn="ctr"/>
            <a:r>
              <a:rPr lang="en-US" sz="2800" b="1" cap="none" dirty="0" err="1">
                <a:solidFill>
                  <a:schemeClr val="tx1"/>
                </a:solidFill>
                <a:ea typeface="Calibri Light"/>
                <a:cs typeface="Calibri Light"/>
              </a:rPr>
              <a:t>Dr.M.SARASWATHI</a:t>
            </a:r>
            <a:r>
              <a:rPr lang="en-US" sz="2800" b="1" cap="none" dirty="0">
                <a:ea typeface="Calibri Light"/>
                <a:cs typeface="Calibri Light"/>
              </a:rPr>
              <a:t>,</a:t>
            </a:r>
            <a:r>
              <a:rPr lang="en-US" sz="2800" b="1" cap="none" dirty="0">
                <a:solidFill>
                  <a:srgbClr val="404040"/>
                </a:solidFill>
                <a:latin typeface="Calibri Light"/>
                <a:ea typeface="Calibri Light"/>
                <a:cs typeface="Calibri Light"/>
              </a:rPr>
              <a:t> </a:t>
            </a:r>
            <a:r>
              <a:rPr lang="en-US" sz="2800" b="1" cap="none" dirty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Assistant Professor, CSE</a:t>
            </a:r>
            <a:endParaRPr lang="en-US" sz="2800" b="1" cap="none" dirty="0">
              <a:solidFill>
                <a:schemeClr val="tx1"/>
              </a:solidFill>
              <a:effectLst/>
              <a:latin typeface="Calibri Light"/>
              <a:ea typeface="Calibri Light"/>
              <a:cs typeface="Calibri Light"/>
            </a:endParaRPr>
          </a:p>
          <a:p>
            <a:pPr algn="ctr"/>
            <a:endParaRPr lang="en-US" sz="2800" b="1" dirty="0">
              <a:solidFill>
                <a:schemeClr val="tx1"/>
              </a:solidFill>
              <a:ea typeface="Calibri Light"/>
              <a:cs typeface="Calibri Light"/>
            </a:endParaRPr>
          </a:p>
          <a:p>
            <a:r>
              <a:rPr lang="en-US" sz="2400" b="1" cap="none">
                <a:solidFill>
                  <a:schemeClr val="tx1"/>
                </a:solidFill>
                <a:ea typeface="Arial"/>
                <a:cs typeface="Arial"/>
                <a:sym typeface="Arial"/>
              </a:rPr>
              <a:t>University Review</a:t>
            </a:r>
            <a:r>
              <a:rPr lang="en-US" sz="2400" b="1">
                <a:solidFill>
                  <a:schemeClr val="tx1"/>
                </a:solidFill>
                <a:ea typeface="Arial"/>
                <a:cs typeface="Arial"/>
                <a:sym typeface="Arial"/>
              </a:rPr>
              <a:t>: 29-04-2026</a:t>
            </a:r>
            <a:endParaRPr lang="en-US" sz="2400" b="1">
              <a:solidFill>
                <a:schemeClr val="tx1"/>
              </a:solidFill>
              <a:ea typeface="Calibri Light"/>
              <a:cs typeface="Calibri Light"/>
            </a:endParaRPr>
          </a:p>
          <a:p>
            <a:endParaRPr lang="en-US" sz="3200" b="1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38354"/>
            <a:ext cx="11228464" cy="658311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Overview: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AI Math Tutor Pro is a web-based adaptive mathematics learning platform built with</a:t>
            </a:r>
            <a:endParaRPr lang="en-US" sz="2400" dirty="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Python/Streamlit.</a:t>
            </a:r>
            <a:endParaRPr lang="en-US" sz="24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Two Roles:</a:t>
            </a:r>
            <a:endParaRPr lang="en-US" sz="24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Students: access 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personalised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 worksheets (Easy/Medium/Hard) and an AI chat tutor</a:t>
            </a:r>
          </a:p>
          <a:p>
            <a:pPr algn="just"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Teachers: manage class enrolment, upload questions via CSV, and view dashboards</a:t>
            </a:r>
            <a:endParaRPr lang="en-US" sz="2400" dirty="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Core Capabilities: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AI-generated MCQs via Perplexity AI (sonar model) or teacher-uploaded CSV question bank instant auto-grading, score tracking, missed-question 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retry,and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 daily streak counter.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Persistent storage in SQLite — subjects, 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question_bank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, performance, 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chat_history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 tables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Technology Stack:  Python 3, 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Streamlit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Calibri" panose="020F0502020204030204"/>
                <a:cs typeface="Times New Roman"/>
              </a:rPr>
              <a:t>, SQLite, Perplexity AI API, OpenAI SDK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F2FA9-37A1-CBB2-85D4-DA7F2BE11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406386-4379-048D-5010-9FA202D09EA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Math Tutor is a 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-based adaptive learning platform for school mathematics.</a:t>
            </a:r>
            <a:endParaRPr lang="en-US" sz="24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access 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personalised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worksheets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/ Medium / Hard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an AI chat tutor.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cs typeface="Times New Roman"/>
              </a:rPr>
              <a:t>Teachers manage enrolment, upload questions via CSV, and monitor performance dashboards.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cs typeface="Times New Roman"/>
              </a:rPr>
              <a:t>The system uses a Perplexity AI API for dynamic question generation and guided tutoring.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cs typeface="Times New Roman"/>
              </a:rPr>
              <a:t>SQLite stores student performance, chat history, and study materials for persistent tracking.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Keywords: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learning, AI tutoring, Mathematics education, MCQ generation, Perplexity AI, </a:t>
            </a:r>
            <a:r>
              <a:rPr lang="en-US" sz="240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dirty="0">
              <a:solidFill>
                <a:schemeClr val="dk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545ACD9-6AFE-CC73-231B-C844E6616B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AI MATH TUTOR:</a:t>
            </a:r>
            <a:endParaRPr lang="en-US" sz="3200" b="1" cap="none">
              <a:solidFill>
                <a:schemeClr val="dk2"/>
              </a:solidFill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6232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AI MATH TUTOR:</a:t>
            </a:r>
            <a:endParaRPr lang="en-US" b="1">
              <a:solidFill>
                <a:schemeClr val="dk2"/>
              </a:solidFill>
              <a:ea typeface="Calibri Light"/>
              <a:cs typeface="Calibri Light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lang="en-US" sz="24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Students lack access to </a:t>
            </a:r>
            <a:r>
              <a:rPr lang="en-US" sz="240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personalised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</a:rPr>
              <a:t> on-demand math practice with instant feedback.</a:t>
            </a:r>
            <a:endParaRPr lang="en-US" sz="24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Existing platforms use static question banks — questions do not adapt to student skill level.</a:t>
            </a: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Teachers have no real-time visibility into which students are struggling or falling behind.</a:t>
            </a: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No low-cost solution combines AI question generation, guided tutoring, and teacher oversight in one deployable tool.</a:t>
            </a:r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94355-52D3-FD36-AB8A-60F7EFD2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C60CA90-891F-1EA7-8C4A-3C3A855CAC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AI MATH TUTOR:</a:t>
            </a:r>
            <a:endParaRPr lang="en-US" b="1">
              <a:solidFill>
                <a:schemeClr val="dk2"/>
              </a:solidFill>
              <a:ea typeface="Calibri Light"/>
              <a:cs typeface="Calibri Ligh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7510F8-8444-ED13-DA5D-D5243B12C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278486"/>
              </p:ext>
            </p:extLst>
          </p:nvPr>
        </p:nvGraphicFramePr>
        <p:xfrm>
          <a:off x="116237" y="878236"/>
          <a:ext cx="11960500" cy="5965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4915">
                  <a:extLst>
                    <a:ext uri="{9D8B030D-6E8A-4147-A177-3AD203B41FA5}">
                      <a16:colId xmlns:a16="http://schemas.microsoft.com/office/drawing/2014/main" val="2678139060"/>
                    </a:ext>
                  </a:extLst>
                </a:gridCol>
                <a:gridCol w="1646694">
                  <a:extLst>
                    <a:ext uri="{9D8B030D-6E8A-4147-A177-3AD203B41FA5}">
                      <a16:colId xmlns:a16="http://schemas.microsoft.com/office/drawing/2014/main" val="4263158352"/>
                    </a:ext>
                  </a:extLst>
                </a:gridCol>
                <a:gridCol w="904066">
                  <a:extLst>
                    <a:ext uri="{9D8B030D-6E8A-4147-A177-3AD203B41FA5}">
                      <a16:colId xmlns:a16="http://schemas.microsoft.com/office/drawing/2014/main" val="2840381483"/>
                    </a:ext>
                  </a:extLst>
                </a:gridCol>
                <a:gridCol w="4052160">
                  <a:extLst>
                    <a:ext uri="{9D8B030D-6E8A-4147-A177-3AD203B41FA5}">
                      <a16:colId xmlns:a16="http://schemas.microsoft.com/office/drawing/2014/main" val="158815967"/>
                    </a:ext>
                  </a:extLst>
                </a:gridCol>
                <a:gridCol w="4582665">
                  <a:extLst>
                    <a:ext uri="{9D8B030D-6E8A-4147-A177-3AD203B41FA5}">
                      <a16:colId xmlns:a16="http://schemas.microsoft.com/office/drawing/2014/main" val="1391569425"/>
                    </a:ext>
                  </a:extLst>
                </a:gridCol>
              </a:tblGrid>
              <a:tr h="4483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latin typeface="Times New Roman"/>
                          <a:cs typeface="Times New Roman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endParaRPr lang="en-US" sz="24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lang="en-US" sz="24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latin typeface="Times New Roman"/>
                          <a:cs typeface="Times New Roman"/>
                        </a:rPr>
                        <a:t>Title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latin typeface="Times New Roman"/>
                          <a:cs typeface="Times New Roman"/>
                        </a:rPr>
                        <a:t>Finding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50721"/>
                  </a:ext>
                </a:extLst>
              </a:tr>
              <a:tr h="101904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Times New Roman"/>
                          <a:cs typeface="Times New Roman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Lin, Huang &amp; Lu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2023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 in Intelligent Tutoring Systems toward Sustainable Education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AI-driven ITS enable personalized learning and improve engagement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972720"/>
                  </a:ext>
                </a:extLst>
              </a:tr>
              <a:tr h="7065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Times New Roman"/>
                          <a:cs typeface="Times New Roman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Liu et al.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2024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Generative Intelligent Tutoring Systems with GPT-4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GPT-based tutors and dynamic </a:t>
                      </a:r>
                      <a:r>
                        <a:rPr lang="en-US" sz="2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content generation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885881"/>
                  </a:ext>
                </a:extLst>
              </a:tr>
              <a:tr h="93752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Times New Roman"/>
                          <a:cs typeface="Times New Roman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Fernández-Herrero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u="none" strike="noStrike" baseline="0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2024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Affective Intelligent Tutoring Systems Review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Emotion-aware AI tutors </a:t>
                      </a:r>
                      <a:endParaRPr lang="en-US" sz="2400" b="0" i="0" u="none" strike="noStrike" noProof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858095"/>
                  </a:ext>
                </a:extLst>
              </a:tr>
              <a:tr h="7065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Times New Roman"/>
                          <a:cs typeface="Times New Roman"/>
                        </a:rPr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 </a:t>
                      </a: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Létourneau et al.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2025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AI-Driven Intelligent Tutoring </a:t>
                      </a: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Systems in K-12 Education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Rapid growth of AI tutoring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352360"/>
                  </a:ext>
                </a:extLst>
              </a:tr>
              <a:tr h="8967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latin typeface="Times New Roman"/>
                          <a:cs typeface="Times New Roman"/>
                        </a:rPr>
                        <a:t>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Hariyanto et al.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2025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 in Adaptive Education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Adaptive learning algorithms personalize instruction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433085"/>
                  </a:ext>
                </a:extLst>
              </a:tr>
              <a:tr h="8394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Times New Roman"/>
                          <a:cs typeface="Times New Roman"/>
                        </a:rPr>
                        <a:t>6.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Latif, Liu &amp; Zhai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Intelligent and Robot Tutoring Systems Review</a:t>
                      </a:r>
                      <a:endParaRPr lang="en-US" sz="2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 and robotic tutors expand interactive learning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43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577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AI MATH TUTOR:</a:t>
            </a:r>
            <a:endParaRPr lang="en-US" b="1">
              <a:solidFill>
                <a:schemeClr val="dk2"/>
              </a:solidFill>
              <a:ea typeface="Calibri Light"/>
              <a:cs typeface="Calibri Light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4810A5-17B8-056B-F779-E0122B268448}"/>
              </a:ext>
            </a:extLst>
          </p:cNvPr>
          <p:cNvSpPr txBox="1">
            <a:spLocks/>
          </p:cNvSpPr>
          <p:nvPr/>
        </p:nvSpPr>
        <p:spPr>
          <a:xfrm>
            <a:off x="582204" y="1315091"/>
            <a:ext cx="11394040" cy="51884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&amp; its Drawbacks :</a:t>
            </a:r>
            <a:endParaRPr lang="en-US" sz="2400" b="1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/>
            <a:r>
              <a:rPr lang="en-US" sz="2400" b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Khan Academy / </a:t>
            </a:r>
            <a:r>
              <a:rPr lang="en-US" sz="2400" b="1" dirty="0" err="1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Mathway</a:t>
            </a:r>
            <a:endParaRPr lang="en-US" sz="2400" b="1">
              <a:solidFill>
                <a:prstClr val="black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Static content; does not adapt to individual student difficulty level</a:t>
            </a:r>
          </a:p>
          <a:p>
            <a:pPr marL="342900" indent="-342900" algn="l">
              <a:buChar char="•"/>
            </a:pPr>
            <a:r>
              <a:rPr lang="en-US" sz="240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No teacher control panel or class-specific enrolment management</a:t>
            </a:r>
          </a:p>
          <a:p>
            <a:pPr marL="342900" indent="-342900" algn="l">
              <a:buChar char="•"/>
            </a:pPr>
            <a:r>
              <a:rPr lang="en-US" sz="240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General-purpose; not designed for classroom-aligned curriculum</a:t>
            </a:r>
          </a:p>
          <a:p>
            <a:pPr marL="342900" indent="-342900" algn="l">
              <a:buChar char="•"/>
            </a:pPr>
            <a:r>
              <a:rPr lang="en-US" sz="240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AI tutoring either absent or locked behind expensive subscriptions</a:t>
            </a:r>
          </a:p>
          <a:p>
            <a:pPr marL="342900" indent="-342900" algn="l"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No persistent per-student performance history for teacher analysis</a:t>
            </a:r>
            <a:endParaRPr lang="en-US" sz="2400">
              <a:solidFill>
                <a:srgbClr val="404040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3698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B23088-0B35-2A01-08F8-3A6DA3B7A0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none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AI MATH TUTOR:</a:t>
            </a:r>
            <a:endParaRPr lang="en-US" b="1">
              <a:solidFill>
                <a:schemeClr val="dk2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8607483-3FBE-A524-AD73-005CCD4A4C44}"/>
              </a:ext>
            </a:extLst>
          </p:cNvPr>
          <p:cNvSpPr txBox="1">
            <a:spLocks/>
          </p:cNvSpPr>
          <p:nvPr/>
        </p:nvSpPr>
        <p:spPr>
          <a:xfrm>
            <a:off x="234822" y="1315091"/>
            <a:ext cx="11741422" cy="5222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>
                <a:solidFill>
                  <a:srgbClr val="000000"/>
                </a:solidFill>
                <a:latin typeface="Times New Roman"/>
                <a:ea typeface="Calibri Light"/>
                <a:cs typeface="Times New Roman"/>
              </a:rPr>
              <a:t> Proposed Method &amp; System Architecture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cs typeface="Times New Roman"/>
              </a:rPr>
              <a:t>Modules: Authentication | Student Worksheet | AI Tutor | Progress | Teacher Dashboard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cs typeface="Times New Roman"/>
              </a:rPr>
              <a:t>Algorithm: Adaptive difficulty selection based on student past performance percentile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cs typeface="Times New Roman"/>
              </a:rPr>
              <a:t>Question Source: Perplexity AI (sonar model) OR Teacher-uploaded CSV bank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cs typeface="Times New Roman"/>
              </a:rPr>
              <a:t>Steps: Login → Select topic &amp; difficulty → Generate worksheet → Submit → Score &amp; Feedback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Storage: SQLite (subjects, </a:t>
            </a:r>
            <a:r>
              <a:rPr lang="en-US" sz="2400" err="1">
                <a:solidFill>
                  <a:srgbClr val="000000"/>
                </a:solidFill>
                <a:latin typeface="Times New Roman"/>
                <a:cs typeface="Times New Roman"/>
              </a:rPr>
              <a:t>difficulty_levels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lang="en-US" sz="2400" err="1">
                <a:solidFill>
                  <a:srgbClr val="000000"/>
                </a:solidFill>
                <a:latin typeface="Times New Roman"/>
                <a:cs typeface="Times New Roman"/>
              </a:rPr>
              <a:t>question_bank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, performance, </a:t>
            </a:r>
            <a:r>
              <a:rPr lang="en-US" sz="2400" err="1">
                <a:solidFill>
                  <a:srgbClr val="000000"/>
                </a:solidFill>
                <a:latin typeface="Times New Roman"/>
                <a:cs typeface="Times New Roman"/>
              </a:rPr>
              <a:t>chat_history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tables)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Framework: </a:t>
            </a:r>
            <a:r>
              <a:rPr lang="en-US" sz="2400" err="1">
                <a:solidFill>
                  <a:srgbClr val="000000"/>
                </a:solidFill>
                <a:latin typeface="Times New Roman"/>
                <a:cs typeface="Times New Roman"/>
              </a:rPr>
              <a:t>Streamlit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(Python) | REST calls to Perplexity AI API for tutor &amp; AI ques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tions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56B32-854C-EB35-77A1-E5A999988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E4B97-8438-E579-19CD-68468CC3A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05516-A70F-C906-034E-D21BB2FE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BF65A-5A38-E139-34D6-BEC9D8A4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14" y="253979"/>
            <a:ext cx="11139811" cy="645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97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D695-8F78-FCD4-3A91-80CA9A5D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720E62-E9BB-042F-BDC6-ACD5B35BDD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Question Generation Algorithm:</a:t>
            </a:r>
            <a:endParaRPr lang="en-US" sz="2400" b="1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IF source == 'Teacher Uploads':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Fetch all rows from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question_bank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WHERE subject AND difficulty match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Random sample 5 questions (or all if fewer than 5)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Shuffle choices; record correct answer index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ELSE (Perplexity AI):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Send structured prompt → parse Q/A/B/C/D/Correct lines → validate → shuffle choices</a:t>
            </a:r>
            <a:endParaRPr lang="en-US" sz="2400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Scoring Algorithm: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  score = COUNT(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student_answer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[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i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] == correct[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i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]) for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i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in 0..4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  Store (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student_name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subject_id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difficulty_id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, score, timestamp) in performance</a:t>
            </a:r>
            <a:endParaRPr lang="en-US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AB9F05F-85CD-CDBB-0F2C-A507734235B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cap="none">
                <a:solidFill>
                  <a:schemeClr val="dk2"/>
                </a:solidFill>
                <a:latin typeface="Times New Roman"/>
                <a:ea typeface="+mj-lt"/>
                <a:cs typeface="Times New Roman"/>
                <a:sym typeface="Times New Roman"/>
              </a:rPr>
              <a:t>ALGORITHM:</a:t>
            </a:r>
            <a:endParaRPr lang="en-IN" sz="3200" b="1" cap="none">
              <a:solidFill>
                <a:schemeClr val="dk2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3574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B4F02-55F0-616D-D72B-56229FF5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32940F-DA00-505F-B036-841A5057B5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1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— Environment Setup: pip install streamlit openai python-dotenv pandas; create .env with PERPLEXITY_API_KEY and teacher credentials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2 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— Database Initialisation: Run create_database() to auto-create all SQLite tables and seed 3 difficulty levels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3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— Teacher Onboarding: Teacher logs in → adds students (single or CSV bulk) → uploads question CSV → adds study material</a:t>
            </a: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4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— Student Onboarding: Students receive credentials → log in → see enrolled subjects → attempt first worksheet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5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— Worksheet Session: Select topic + difficulty + source → Generate → Answer 5 MCQs → Submit → Review → Retry missed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6 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— AI Tutor Session: Open AI Tutor tab → type or tap quick prompt → receive guided hints → chat persists across sessions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3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Step 7 </a:t>
            </a:r>
            <a:r>
              <a:rPr lang="en-US" sz="23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— Monitoring: Teacher checks scoreboard weekly → flags at-risk students → drills into individual reports → exports CSV</a:t>
            </a:r>
            <a:endParaRPr lang="en-US" sz="23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738083-AFF0-C9DD-CA3F-7C2840E56A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cap="none">
                <a:solidFill>
                  <a:schemeClr val="dk2"/>
                </a:solidFill>
                <a:latin typeface="Times New Roman"/>
                <a:ea typeface="+mj-lt"/>
                <a:cs typeface="Times New Roman"/>
                <a:sym typeface="Times New Roman"/>
              </a:rPr>
              <a:t>Steps for Implementation:</a:t>
            </a:r>
            <a:endParaRPr lang="en-US" sz="3200" b="1" cap="none">
              <a:solidFill>
                <a:schemeClr val="dk2"/>
              </a:solidFill>
              <a:latin typeface="Times New Roman"/>
              <a:ea typeface="Calibri Light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5652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>
                <a:latin typeface="Times New Roman"/>
                <a:cs typeface="Times New Roman"/>
              </a:rPr>
              <a:t>Student Dashboard</a:t>
            </a:r>
            <a:r>
              <a:rPr lang="en-US" sz="2400" dirty="0">
                <a:latin typeface="Times New Roman"/>
                <a:cs typeface="Times New Roman"/>
              </a:rPr>
              <a:t>: </a:t>
            </a:r>
            <a:endParaRPr lang="en-US" sz="2400" b="1" dirty="0">
              <a:latin typeface="Times New Roman"/>
              <a:cs typeface="Times New Roman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>
                <a:latin typeface="Times New Roman"/>
                <a:cs typeface="Times New Roman"/>
              </a:rPr>
              <a:t>Worksheet generation, score tracking, AI tutor chat, streak counter. </a:t>
            </a:r>
            <a:endParaRPr lang="en-US" sz="2400" b="1">
              <a:latin typeface="Times New Roman"/>
              <a:cs typeface="Times New Roman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>
                <a:latin typeface="Times New Roman"/>
                <a:cs typeface="Times New Roman"/>
              </a:rPr>
              <a:t>Teacher Dashboard</a:t>
            </a:r>
            <a:r>
              <a:rPr lang="en-US" sz="2400" dirty="0">
                <a:latin typeface="Times New Roman"/>
                <a:cs typeface="Times New Roman"/>
              </a:rPr>
              <a:t>: </a:t>
            </a:r>
            <a:endParaRPr lang="en-US" sz="2400" b="1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2400">
                <a:latin typeface="Times New Roman"/>
                <a:cs typeface="Times New Roman"/>
              </a:rPr>
              <a:t>Enrolment management, CSV upload, at-risk flags, class </a:t>
            </a:r>
            <a:r>
              <a:rPr lang="en-US" sz="2400" dirty="0">
                <a:latin typeface="Times New Roman"/>
                <a:cs typeface="Times New Roman"/>
              </a:rPr>
              <a:t>scoreboard, individual drill-</a:t>
            </a:r>
            <a:r>
              <a:rPr lang="en-US" sz="2400">
                <a:latin typeface="Times New Roman"/>
                <a:cs typeface="Times New Roman"/>
              </a:rPr>
              <a:t>down reports. </a:t>
            </a:r>
            <a:endParaRPr lang="en-US" sz="2400" b="1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2400">
                <a:latin typeface="Times New Roman"/>
                <a:cs typeface="Times New Roman"/>
              </a:rPr>
              <a:t>Worksheet auto-graded with instant feedback; missed questions offered for retry </a:t>
            </a:r>
            <a:r>
              <a:rPr lang="en-US" sz="2400" dirty="0">
                <a:latin typeface="Times New Roman"/>
                <a:cs typeface="Times New Roman"/>
              </a:rPr>
              <a:t>practice.</a:t>
            </a:r>
            <a:endParaRPr lang="en-US" sz="2400" b="1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RESULT &amp;  ANALYSIS:</a:t>
            </a:r>
          </a:p>
        </p:txBody>
      </p:sp>
    </p:spTree>
    <p:extLst>
      <p:ext uri="{BB962C8B-B14F-4D97-AF65-F5344CB8AC3E}">
        <p14:creationId xmlns:p14="http://schemas.microsoft.com/office/powerpoint/2010/main" val="267846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2B3E6-4519-A48B-73B1-F1FDDF0C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690D65-D6AE-A775-711C-89F8D022DC5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Student Flow:</a:t>
            </a:r>
            <a:endParaRPr lang="en-US" sz="2400" b="1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Login with credentials verified against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student_logins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table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Select subject (only enrolled subjects shown) and difficulty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Choose question source: Teacher Uploads or Perplexity AI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Click Generate — 5 MCQs fetched/generated, choices shuffled randomly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Answer questions; optional per-question AI hints available before submit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Submit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 → score computed → result stored in DB → feedback shown</a:t>
            </a:r>
            <a:endParaRPr lang="en-US" sz="24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Missed questions offered for immediate retry practice</a:t>
            </a:r>
            <a:endParaRPr lang="en-US">
              <a:solidFill>
                <a:schemeClr val="dk1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623AAAA-2410-D94B-BC5C-D4C701E4BF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cap="none">
                <a:solidFill>
                  <a:schemeClr val="dk2"/>
                </a:solidFill>
                <a:latin typeface="Times New Roman"/>
                <a:ea typeface="+mj-lt"/>
                <a:cs typeface="Times New Roman"/>
                <a:sym typeface="Times New Roman"/>
              </a:rPr>
              <a:t>PROCESS:</a:t>
            </a:r>
            <a:endParaRPr lang="en-US" b="1">
              <a:solidFill>
                <a:schemeClr val="dk2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7620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0CF90-C4A9-7197-9014-A562036FE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B63D0-C9F9-91D5-95B6-275F33A920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Teacher Flow:</a:t>
            </a: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Login with subject-specific credentials</a:t>
            </a: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Dashboard loads class scoreboard, question counts, at-risk flags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Add/remove students, reset passwords, manage enrolment via CSV bulk upload</a:t>
            </a:r>
            <a:endParaRPr lang="en-US" sz="2400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Upload question CSVs in Append or Replace mode</a:t>
            </a: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Upload study material (text notes, PDF, or image)</a:t>
            </a:r>
            <a:endParaRPr lang="en-US" sz="240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solidFill>
                  <a:schemeClr val="dk1"/>
                </a:solidFill>
                <a:latin typeface="Times New Roman"/>
                <a:ea typeface="+mn-lt"/>
                <a:cs typeface="Times New Roman"/>
              </a:rPr>
              <a:t>Drill down into any student's attempt history and score trend</a:t>
            </a:r>
            <a:endParaRPr lang="en-US">
              <a:solidFill>
                <a:schemeClr val="dk1"/>
              </a:solidFill>
              <a:latin typeface="Times New Roman"/>
              <a:ea typeface="Calibri" panose="020F0502020204030204"/>
              <a:cs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E914E46-635B-A2F9-70F7-9D8471A71E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cap="none">
                <a:solidFill>
                  <a:schemeClr val="dk2"/>
                </a:solidFill>
                <a:latin typeface="Times New Roman"/>
                <a:ea typeface="+mj-lt"/>
                <a:cs typeface="Times New Roman"/>
                <a:sym typeface="Times New Roman"/>
              </a:rPr>
              <a:t>PROCESS:</a:t>
            </a:r>
            <a:endParaRPr lang="en-US" b="1">
              <a:solidFill>
                <a:schemeClr val="dk2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3819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latin typeface="Times New Roman"/>
                <a:ea typeface="Calibri"/>
                <a:cs typeface="Times New Roman"/>
              </a:rPr>
              <a:t>AI Math Tutor Pro successfully delivers adaptive, AI-assisted math practice within a classroom-ready web application.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r>
              <a:rPr lang="en-US" sz="2400">
                <a:latin typeface="Times New Roman"/>
                <a:ea typeface="Calibri"/>
                <a:cs typeface="Times New Roman"/>
              </a:rPr>
              <a:t>The dual-role design (student + teacher) bridges the gap between self-paced learning and instructor oversight.</a:t>
            </a:r>
            <a:endParaRPr lang="en-US"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latin typeface="Times New Roman"/>
                <a:ea typeface="Calibri"/>
                <a:cs typeface="Times New Roman"/>
              </a:rPr>
              <a:t>Integration with Perplexity AI ensures unlimited, curriculum-aligned question generation beyond static banks.</a:t>
            </a:r>
            <a:endParaRPr lang="en-US"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>
                <a:latin typeface="Times New Roman"/>
                <a:ea typeface="Calibri"/>
                <a:cs typeface="Times New Roman"/>
              </a:rPr>
              <a:t>The system is lightweight, deployable with minimal infrastructure, and extensible to other subjects.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cap="none">
                <a:solidFill>
                  <a:srgbClr val="404040"/>
                </a:solidFill>
                <a:latin typeface="Calibri Light"/>
                <a:ea typeface="Calibri Light"/>
                <a:cs typeface="Calibri Light"/>
                <a:sym typeface="Times New Roman"/>
              </a:rPr>
              <a:t> </a:t>
            </a:r>
            <a:r>
              <a:rPr lang="en-IN" sz="3200" b="1" cap="none" dirty="0">
                <a:solidFill>
                  <a:schemeClr val="dk2"/>
                </a:solidFill>
                <a:latin typeface="Times New Roman"/>
                <a:cs typeface="Times New Roman"/>
              </a:rPr>
              <a:t>CONCLUSION</a:t>
            </a:r>
            <a:r>
              <a:rPr lang="en-IN" sz="3200" b="1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lang="en-US" sz="3200" b="1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4760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>
                <a:latin typeface="Times New Roman"/>
                <a:cs typeface="Times New Roman"/>
              </a:rPr>
              <a:t>Expand to Science, Physics, and Chemistry subjects with subject-specific AI prompting</a:t>
            </a:r>
            <a:endParaRPr lang="en-US" sz="2400"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>
                <a:latin typeface="Times New Roman"/>
                <a:cs typeface="Times New Roman"/>
              </a:rPr>
              <a:t>Add spaced-repetition scheduling to resurface weak topics automatically</a:t>
            </a:r>
            <a:endParaRPr lang="en-US" sz="2400"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>
                <a:latin typeface="Times New Roman"/>
                <a:cs typeface="Times New Roman"/>
              </a:rPr>
              <a:t>Integrate voice-based tutoring using speech-to-text for accessibility</a:t>
            </a:r>
            <a:endParaRPr lang="en-US" sz="2400"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>
                <a:latin typeface="Times New Roman"/>
                <a:cs typeface="Times New Roman"/>
              </a:rPr>
              <a:t>Deploy as a mobile app (Android/iOS) for offline worksheet access</a:t>
            </a:r>
            <a:endParaRPr lang="en-US" sz="2400"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>
                <a:latin typeface="Times New Roman"/>
                <a:cs typeface="Times New Roman"/>
              </a:rPr>
              <a:t>Multi-language support (Tamil, Hindi) for regional school adoption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cap="none">
                <a:solidFill>
                  <a:schemeClr val="dk2"/>
                </a:solidFill>
                <a:latin typeface="Times New Roman"/>
                <a:cs typeface="Times New Roman"/>
              </a:rPr>
              <a:t>FUTURE</a:t>
            </a:r>
            <a:r>
              <a:rPr lang="en-IN" sz="3200" b="1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 ENHANCEMENT:</a:t>
            </a:r>
          </a:p>
        </p:txBody>
      </p:sp>
    </p:spTree>
    <p:extLst>
      <p:ext uri="{BB962C8B-B14F-4D97-AF65-F5344CB8AC3E}">
        <p14:creationId xmlns:p14="http://schemas.microsoft.com/office/powerpoint/2010/main" val="513180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400" b="1">
                <a:latin typeface="Times New Roman"/>
                <a:ea typeface="+mn-lt"/>
                <a:cs typeface="Times New Roman"/>
              </a:rPr>
              <a:t>Liu et al.</a:t>
            </a:r>
            <a:r>
              <a:rPr lang="en-US" sz="2400">
                <a:latin typeface="Times New Roman"/>
                <a:ea typeface="+mn-lt"/>
                <a:cs typeface="Times New Roman"/>
              </a:rPr>
              <a:t> | 2024 | Generative Intelligent Tutoring Systems with GPT-4 | GPT-based tutors provide real-time adaptive feedback and dynamic content generation for personalized learning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Times New Roman"/>
              </a:rPr>
              <a:t>Fernández-Herrero </a:t>
            </a:r>
            <a:r>
              <a:rPr lang="en-US" sz="2400">
                <a:latin typeface="Times New Roman"/>
                <a:ea typeface="+mn-lt"/>
                <a:cs typeface="Times New Roman"/>
              </a:rPr>
              <a:t>| 2024 | Affective Intelligent Tutoring Systems Review | Emotion-aware AI tutors enhance motivation, engagement, and learning effectiveness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Times New Roman"/>
              </a:rPr>
              <a:t>Létourneau et al.</a:t>
            </a:r>
            <a:r>
              <a:rPr lang="en-US" sz="2400">
                <a:latin typeface="Times New Roman"/>
                <a:ea typeface="+mn-lt"/>
                <a:cs typeface="Times New Roman"/>
              </a:rPr>
              <a:t> | 2025 | AI-Driven Intelligent Tutoring Systems in K-12 Education | Rapid growth of AI tutoring shows significant improvements in learning outcomes and scalable education delivery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Times New Roman"/>
              </a:rPr>
              <a:t>Hariyanto et al.</a:t>
            </a:r>
            <a:r>
              <a:rPr lang="en-US" sz="2400">
                <a:latin typeface="Times New Roman"/>
                <a:ea typeface="+mn-lt"/>
                <a:cs typeface="Times New Roman"/>
              </a:rPr>
              <a:t> | 2025 | AI in Adaptive Education | Adaptive learning algorithms personalize instruction using learner analytics and performance data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Times New Roman"/>
              </a:rPr>
              <a:t>Latif, Liu &amp; Zhai</a:t>
            </a:r>
            <a:r>
              <a:rPr lang="en-US" sz="2400">
                <a:latin typeface="Times New Roman"/>
                <a:ea typeface="+mn-lt"/>
                <a:cs typeface="Times New Roman"/>
              </a:rPr>
              <a:t> | 2026 | Intelligent and Robot Tutoring Systems Review | AI and robotic tutors expand interactive learning through advanced pedagogical design and automation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REFERENCES:</a:t>
            </a:r>
            <a:endParaRPr lang="en-IN" sz="3200" b="1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6378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9117"/>
            <a:ext cx="10515600" cy="57978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>
                <a:latin typeface="Times New Roman"/>
                <a:cs typeface="Times New Roman"/>
              </a:rPr>
              <a:t>THANK YOU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01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71af3243-3dd4-4a8d-8c0d-dd76da1f02a5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212</Words>
  <Application>Microsoft Office PowerPoint</Application>
  <PresentationFormat>Widescreen</PresentationFormat>
  <Paragraphs>85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DHURGA SHREE.K.C</dc:creator>
  <cp:lastModifiedBy>Admin</cp:lastModifiedBy>
  <cp:revision>850</cp:revision>
  <dcterms:created xsi:type="dcterms:W3CDTF">2025-03-05T00:42:20Z</dcterms:created>
  <dcterms:modified xsi:type="dcterms:W3CDTF">2026-04-25T17:00:43Z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