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7" r:id="rId6"/>
    <p:sldId id="308" r:id="rId7"/>
    <p:sldId id="261" r:id="rId8"/>
    <p:sldId id="307" r:id="rId9"/>
    <p:sldId id="305" r:id="rId10"/>
    <p:sldId id="264" r:id="rId11"/>
    <p:sldId id="309" r:id="rId12"/>
    <p:sldId id="313" r:id="rId13"/>
    <p:sldId id="311" r:id="rId14"/>
    <p:sldId id="312" r:id="rId15"/>
    <p:sldId id="300" r:id="rId16"/>
    <p:sldId id="301" r:id="rId17"/>
    <p:sldId id="302" r:id="rId18"/>
    <p:sldId id="303" r:id="rId19"/>
    <p:sldId id="30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B8A8F-6EFA-4303-9B79-434F5C7CF489}" v="26" dt="2026-04-28T12:50:14.576"/>
    <p1510:client id="{94EF3062-16C1-45CC-95A9-AEE5B6352F1F}" v="220" dt="2026-04-28T14:34:29.641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nchiuniv.ac.i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6" y="178888"/>
            <a:ext cx="1335693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178888"/>
            <a:ext cx="937122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 MAHA VIDHYALAYA</a:t>
            </a:r>
            <a:endParaRPr lang="en-US">
              <a:solidFill>
                <a:schemeClr val="dk1"/>
              </a:solidFill>
              <a:ea typeface="Calibri"/>
              <a:cs typeface="Calibri"/>
            </a:endParaRPr>
          </a:p>
          <a:p>
            <a:pPr algn="ctr"/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b="1" i="0" u="none" strike="noStrike" cap="none" dirty="0">
                <a:latin typeface="Arial"/>
                <a:ea typeface="Arial"/>
                <a:cs typeface="Arial"/>
              </a:rPr>
            </a:b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b="1" i="0" u="none" strike="noStrike" cap="none" dirty="0">
                <a:latin typeface="Arial"/>
                <a:ea typeface="Arial"/>
                <a:cs typeface="Arial"/>
              </a:rPr>
            </a:br>
            <a:r>
              <a:rPr lang="en-US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Kanchipuram – 631561. </a:t>
            </a:r>
            <a:r>
              <a:rPr lang="en-US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Tamilnadu</a:t>
            </a:r>
            <a:br>
              <a:rPr lang="en-US" b="1" i="0" u="none" strike="noStrike" cap="none" dirty="0">
                <a:latin typeface="Arial"/>
                <a:ea typeface="Arial"/>
                <a:cs typeface="Arial"/>
              </a:rPr>
            </a:br>
            <a:r>
              <a:rPr lang="en-US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www.kanchiuniv.ac.in</a:t>
            </a:r>
            <a:endParaRPr lang="en-US" b="1" i="0" u="sng" strike="noStrike" cap="none">
              <a:solidFill>
                <a:schemeClr val="hlink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sz="3200" b="1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&amp; ENGINEERING</a:t>
            </a:r>
            <a:br>
              <a:rPr lang="en-US" sz="3200" b="1" i="0" u="none" strike="noStrike" cap="none" dirty="0">
                <a:latin typeface="Calibri"/>
                <a:ea typeface="Calibri"/>
                <a:cs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664413"/>
            <a:ext cx="11845353" cy="5140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BCSF186Z90</a:t>
            </a:r>
            <a:r>
              <a:rPr lang="en-US" sz="2800" b="1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-CIP </a:t>
            </a:r>
            <a:r>
              <a:rPr lang="en-US" sz="2800" b="1" i="0" u="none" cap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Project</a:t>
            </a:r>
            <a:r>
              <a:rPr lang="en-US" sz="2800" b="1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b="1" i="0" u="none" cap="none">
                <a:solidFill>
                  <a:srgbClr val="0070C0"/>
                </a:solidFill>
                <a:ea typeface="Arial"/>
                <a:cs typeface="Arial"/>
                <a:sym typeface="Arial"/>
              </a:rPr>
              <a:t>Work</a:t>
            </a:r>
            <a:endParaRPr lang="en-US" sz="2800" b="1">
              <a:solidFill>
                <a:srgbClr val="0070C0"/>
              </a:solidFill>
              <a:effectLst/>
              <a:ea typeface="Calibri" panose="020F0502020204030204" pitchFamily="34" charset="0"/>
              <a:cs typeface="Arial"/>
            </a:endParaRPr>
          </a:p>
          <a:p>
            <a:pPr algn="ctr"/>
            <a:endParaRPr lang="en-US" sz="1000" b="1" i="0" u="none" dirty="0">
              <a:solidFill>
                <a:srgbClr val="92D050"/>
              </a:solidFill>
              <a:ea typeface="Arial"/>
              <a:cs typeface="Arial"/>
            </a:endParaRPr>
          </a:p>
          <a:p>
            <a:pPr algn="ctr"/>
            <a:r>
              <a:rPr lang="en-US" sz="3000" b="1">
                <a:solidFill>
                  <a:schemeClr val="tx1"/>
                </a:solidFill>
                <a:ea typeface="Calibri"/>
                <a:cs typeface="Latha"/>
                <a:sym typeface="Arial"/>
              </a:rPr>
              <a:t>AI MATH TUTOR</a:t>
            </a:r>
            <a:endParaRPr lang="en-US" sz="1800" b="1" i="0" u="none" cap="none">
              <a:solidFill>
                <a:schemeClr val="tx1"/>
              </a:solidFill>
              <a:ea typeface="Calibri"/>
              <a:cs typeface="Latha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Calibri"/>
                <a:cs typeface="Latha"/>
                <a:sym typeface="Arial"/>
              </a:rPr>
              <a:t>11239a050 KONGARA DHEERAJ</a:t>
            </a:r>
            <a:endParaRPr lang="en-US" sz="3200" b="1" cap="none">
              <a:solidFill>
                <a:schemeClr val="tx1"/>
              </a:solidFill>
              <a:ea typeface="Calibri Light"/>
              <a:cs typeface="Arial"/>
            </a:endParaRPr>
          </a:p>
          <a:p>
            <a:pPr algn="ctr"/>
            <a:r>
              <a:rPr lang="en-US" sz="2400" b="1" cap="none">
                <a:solidFill>
                  <a:schemeClr val="tx1"/>
                </a:solidFill>
                <a:ea typeface="Calibri"/>
                <a:cs typeface="Latha"/>
              </a:rPr>
              <a:t>11239A090 STUTIPRIYA SHADANGI</a:t>
            </a:r>
          </a:p>
          <a:p>
            <a:pPr algn="ctr"/>
            <a:endParaRPr lang="en-US" sz="3200" b="1" i="0" u="none" dirty="0">
              <a:solidFill>
                <a:schemeClr val="dk1"/>
              </a:solidFill>
              <a:ea typeface="Arial"/>
              <a:cs typeface="Arial"/>
            </a:endParaRPr>
          </a:p>
          <a:p>
            <a:pPr algn="ctr"/>
            <a:r>
              <a:rPr lang="en-US" sz="2800" b="1" i="0" u="none" cap="none">
                <a:solidFill>
                  <a:srgbClr val="00B0F0"/>
                </a:solidFill>
                <a:ea typeface="Arial"/>
                <a:cs typeface="Arial"/>
                <a:sym typeface="Arial"/>
              </a:rPr>
              <a:t>Guided By</a:t>
            </a:r>
            <a:endParaRPr lang="en-US" sz="1800" b="1" i="0" u="none">
              <a:solidFill>
                <a:srgbClr val="404040"/>
              </a:solidFill>
              <a:ea typeface="Calibri"/>
              <a:cs typeface="Latha"/>
            </a:endParaRPr>
          </a:p>
          <a:p>
            <a:pPr algn="ctr"/>
            <a:r>
              <a:rPr lang="en-US" sz="2800" b="1" cap="none" dirty="0" err="1">
                <a:solidFill>
                  <a:schemeClr val="tx1"/>
                </a:solidFill>
                <a:ea typeface="Calibri Light"/>
                <a:cs typeface="Calibri Light"/>
              </a:rPr>
              <a:t>Dr.M.Saraswathi</a:t>
            </a:r>
            <a:r>
              <a:rPr lang="en-US" sz="2800" b="1" cap="none" dirty="0">
                <a:ea typeface="Calibri Light"/>
                <a:cs typeface="Calibri Light"/>
              </a:rPr>
              <a:t>,</a:t>
            </a:r>
            <a:r>
              <a:rPr lang="en-US" sz="2800" b="1" cap="none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 </a:t>
            </a:r>
            <a:r>
              <a:rPr lang="en-US" sz="2800" b="1" cap="none" dirty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Assistant Professor, CSE</a:t>
            </a:r>
            <a:endParaRPr lang="en-US" sz="2800" b="1" cap="none" dirty="0">
              <a:solidFill>
                <a:schemeClr val="tx1"/>
              </a:solidFill>
              <a:effectLst/>
              <a:latin typeface="Calibri Light"/>
              <a:ea typeface="Calibri Light"/>
              <a:cs typeface="Calibri Light"/>
            </a:endParaRPr>
          </a:p>
          <a:p>
            <a:pPr algn="ctr"/>
            <a:endParaRPr lang="en-US" sz="2800" b="1" dirty="0">
              <a:solidFill>
                <a:schemeClr val="tx1"/>
              </a:solidFill>
              <a:ea typeface="Calibri Light"/>
              <a:cs typeface="Calibri Light"/>
            </a:endParaRPr>
          </a:p>
          <a:p>
            <a:r>
              <a:rPr lang="en-US" sz="2400" b="1" cap="none">
                <a:solidFill>
                  <a:schemeClr val="tx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b="1">
                <a:solidFill>
                  <a:schemeClr val="tx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b="1">
              <a:solidFill>
                <a:schemeClr val="tx1"/>
              </a:solidFill>
              <a:ea typeface="Calibri Light"/>
              <a:cs typeface="Calibri Light"/>
            </a:endParaRPr>
          </a:p>
          <a:p>
            <a:endParaRPr lang="en-US" sz="3200" b="1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38354"/>
            <a:ext cx="11228464" cy="658311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Overview: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AI Math Tutor Pro is a web-based adaptive mathematics learning platform built with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Python/Streamlit.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Two Roles:</a:t>
            </a:r>
            <a:endParaRPr lang="en-US" sz="2400" dirty="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Students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: access personalized worksheets (Easy/Medium/Hard) and an AI chat tutor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Teachers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: manage class enrolment, upload questions via CSV, and view dashboards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Core Capabilities: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AI-generated MCQs via Perplexity AI (sonar model) or teacher-uploaded CSV question bank instant auto-grading, score tracking, missed-question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retry,and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 daily streak counter.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Persistent storage in SQLite — subjects,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question_bank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, performance,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chat_history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 tables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Technology Stack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:  Python 3, 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, SQLite, Perplexity AI API, OpenAI SDK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2FA9-37A1-CBB2-85D4-DA7F2BE1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406386-4379-048D-5010-9FA202D09E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Math Tutor is a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-based adaptive learning platform for school mathematics.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access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personalised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worksheets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/ Medium / Hard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an AI chat tutor.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Teachers manage enrolment, upload questions via CSV, and monitor performance dashboards.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The system uses a Perplexity AI API for dynamic question generation and guided tutoring.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SQLite stores student performance, chat history, and study materials for persistent tracking.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learning, AI tutoring, Mathematics education, MCQ generation, Perplexity AI,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dirty="0">
              <a:solidFill>
                <a:schemeClr val="dk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45ACD9-6AFE-CC73-231B-C844E6616B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sz="3200" b="1" cap="none">
              <a:solidFill>
                <a:schemeClr val="dk2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6232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Students lack access to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personalised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</a:rPr>
              <a:t> on-demand math practice with instant result.</a:t>
            </a:r>
            <a:endParaRPr lang="en-US" sz="2400" dirty="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Existing platforms use static question banks — questions do not adapt to student skill level.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Teachers have no real-time visibility into which students are struggling or falling behind.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No low-cost solution combines AI question generation, guided tutoring, and teacher oversight in one deployable tool.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94355-52D3-FD36-AB8A-60F7EFD2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C60CA90-891F-1EA7-8C4A-3C3A855CAC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 dirty="0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 </a:t>
            </a:r>
            <a:r>
              <a:rPr lang="en-US" sz="3200" b="1" cap="none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Literature Survey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 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7510F8-8444-ED13-DA5D-D5243B12C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278486"/>
              </p:ext>
            </p:extLst>
          </p:nvPr>
        </p:nvGraphicFramePr>
        <p:xfrm>
          <a:off x="116237" y="878236"/>
          <a:ext cx="11960500" cy="5965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4915">
                  <a:extLst>
                    <a:ext uri="{9D8B030D-6E8A-4147-A177-3AD203B41FA5}">
                      <a16:colId xmlns:a16="http://schemas.microsoft.com/office/drawing/2014/main" val="2678139060"/>
                    </a:ext>
                  </a:extLst>
                </a:gridCol>
                <a:gridCol w="1646694">
                  <a:extLst>
                    <a:ext uri="{9D8B030D-6E8A-4147-A177-3AD203B41FA5}">
                      <a16:colId xmlns:a16="http://schemas.microsoft.com/office/drawing/2014/main" val="4263158352"/>
                    </a:ext>
                  </a:extLst>
                </a:gridCol>
                <a:gridCol w="904066">
                  <a:extLst>
                    <a:ext uri="{9D8B030D-6E8A-4147-A177-3AD203B41FA5}">
                      <a16:colId xmlns:a16="http://schemas.microsoft.com/office/drawing/2014/main" val="2840381483"/>
                    </a:ext>
                  </a:extLst>
                </a:gridCol>
                <a:gridCol w="4052160">
                  <a:extLst>
                    <a:ext uri="{9D8B030D-6E8A-4147-A177-3AD203B41FA5}">
                      <a16:colId xmlns:a16="http://schemas.microsoft.com/office/drawing/2014/main" val="158815967"/>
                    </a:ext>
                  </a:extLst>
                </a:gridCol>
                <a:gridCol w="4582665">
                  <a:extLst>
                    <a:ext uri="{9D8B030D-6E8A-4147-A177-3AD203B41FA5}">
                      <a16:colId xmlns:a16="http://schemas.microsoft.com/office/drawing/2014/main" val="1391569425"/>
                    </a:ext>
                  </a:extLst>
                </a:gridCol>
              </a:tblGrid>
              <a:tr h="4483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Title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Finding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50721"/>
                  </a:ext>
                </a:extLst>
              </a:tr>
              <a:tr h="10190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Lin, Huang &amp; Lu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in Intelligent Tutoring Systems toward Sustainable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AI-driven ITS enable personalized learning and improve engagement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972720"/>
                  </a:ext>
                </a:extLst>
              </a:tr>
              <a:tr h="706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Liu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2024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Generative Intelligent Tutoring Systems with GPT-4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GPT-based tutors and dynamic </a:t>
                      </a: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content generation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885881"/>
                  </a:ext>
                </a:extLst>
              </a:tr>
              <a:tr h="9375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Fernández-Herrero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2024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Affective Intelligent Tutoring Systems Review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Emotion-aware AI tutors </a:t>
                      </a:r>
                      <a:endParaRPr lang="en-US" sz="2400" b="0" i="0" u="none" strike="noStrike" noProof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858095"/>
                  </a:ext>
                </a:extLst>
              </a:tr>
              <a:tr h="706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 </a:t>
                      </a: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Létourneau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AI-Driven Intelligent Tutoring 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Systems in K-12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Rapid growth of AI tutoring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352360"/>
                  </a:ext>
                </a:extLst>
              </a:tr>
              <a:tr h="8967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Hariyanto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in Adaptive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Adaptive learning algorithms personalize instruction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433085"/>
                  </a:ext>
                </a:extLst>
              </a:tr>
              <a:tr h="8394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Times New Roman"/>
                          <a:cs typeface="Times New Roman"/>
                        </a:rPr>
                        <a:t>6.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Latif, Liu &amp; Zhai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Intelligent and Robot Tutoring Systems Review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and robotic tutors expand interactive learning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43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57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&amp; its Drawbacks :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/>
            <a:r>
              <a:rPr lang="en-US" sz="2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Khan Academy / </a:t>
            </a:r>
            <a:r>
              <a:rPr lang="en-US" sz="2400" b="1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Mathway</a:t>
            </a:r>
            <a:endParaRPr lang="en-US" sz="2400" b="1">
              <a:solidFill>
                <a:prstClr val="black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Static content; does not adapt to individual student difficulty level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No teacher control panel or class-specific enrolment management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General-purpose; not designed for classroom-aligned curriculum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AI tutoring either absent or locked behind expensive subscriptions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No persistent per-student performance history for teacher analysis</a:t>
            </a:r>
            <a:endParaRPr lang="en-US" sz="2400">
              <a:solidFill>
                <a:srgbClr val="40404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234822" y="1315091"/>
            <a:ext cx="11741422" cy="5222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>
                <a:solidFill>
                  <a:srgbClr val="000000"/>
                </a:solidFill>
                <a:latin typeface="Times New Roman"/>
                <a:ea typeface="Calibri Light"/>
                <a:cs typeface="Times New Roman"/>
              </a:rPr>
              <a:t> Proposed Method &amp; System Architecture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  <a:latin typeface="Times New Roman"/>
                <a:cs typeface="Times New Roman"/>
              </a:rPr>
              <a:t>Modules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: Authentication | Student Worksheet | AI Tutor | Progress | Teacher Dashboard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  <a:latin typeface="Times New Roman"/>
                <a:cs typeface="Times New Roman"/>
              </a:rPr>
              <a:t>Algorithm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: Adaptive difficulty selection based on student past performance percentile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  <a:latin typeface="Times New Roman"/>
                <a:cs typeface="Times New Roman"/>
              </a:rPr>
              <a:t>Question Source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: Perplexity AI (sonar model) OR Teacher-uploaded CSV bank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  <a:latin typeface="Times New Roman"/>
                <a:cs typeface="Times New Roman"/>
              </a:rPr>
              <a:t>Steps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: Login → Select topic &amp; difficulty → Generate worksheet → Submit → Score Dashboard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Storage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: SQLite (subjects,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difficulty_levels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question_bank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, performance,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chat_history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tables)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Framework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(Python) | REST calls to Perplexity AI API for tutor &amp; AI ques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tions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56B32-854C-EB35-77A1-E5A99998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4B97-8438-E579-19CD-68468CC3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05516-A70F-C906-034E-D21BB2FE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BF65A-5A38-E139-34D6-BEC9D8A43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14" y="253979"/>
            <a:ext cx="11139811" cy="645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9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4F02-55F0-616D-D72B-56229FF5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32940F-DA00-505F-B036-841A5057B5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1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Environment Setup: pip install streamlit openai python-dotenv pandas; create .env with PERPLEXITY_API_KEY and teacher credentials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2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Database Initialisation: Run create_database() to auto-create all SQLite tables and seed 3 difficulty levels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3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Teacher Onboarding: Teacher logs in → adds students (single or CSV bulk) → uploads question CSV → adds study material</a:t>
            </a: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4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Student Onboarding: Students receive credentials → log in → see enrolled subjects → attempt first worksheet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5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Worksheet Session: Select topic + difficulty + source → Generate → Answer 5 MCQs → Submit → Review → Retry missed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6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AI Tutor Session: Open AI Tutor tab → type or tap quick prompt → receive guided hints → chat persists across sessions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7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Monitoring: Teacher checks scoreboard weekly → flags at-risk students → drills into individual reports → exports CSV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738083-AFF0-C9DD-CA3F-7C2840E56A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Steps for Implementation:</a:t>
            </a:r>
            <a:endParaRPr lang="en-US" sz="3200" b="1" cap="none">
              <a:solidFill>
                <a:schemeClr val="dk2"/>
              </a:solidFill>
              <a:latin typeface="Times New Roman"/>
              <a:ea typeface="Calibri Light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565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B3E6-4519-A48B-73B1-F1FDDF0C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690D65-D6AE-A775-711C-89F8D022DC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 Flow: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Login with credentials verified against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student_logins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table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Select subject (only enrolled subjects shown) and difficulty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Choose question source: Teacher Uploads or Perplexity AI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Click Generate — 5 MCQs fetched/generated, choices shuffled randomly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Answer questions; optional per-question AI hints available before submit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Submit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→ score computed → result stored in DB → feedback shown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Missed questions offered for immediate retry practice</a:t>
            </a:r>
            <a:endParaRPr lang="en-US">
              <a:solidFill>
                <a:schemeClr val="dk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623AAAA-2410-D94B-BC5C-D4C701E4BF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PROCESS:</a:t>
            </a:r>
            <a:endParaRPr lang="en-US" b="1">
              <a:solidFill>
                <a:schemeClr val="dk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762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0CF90-C4A9-7197-9014-A562036F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B63D0-C9F9-91D5-95B6-275F33A920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Teacher Flow: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Login with subject-specific credentials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Dashboard loads class scoreboard, question counts, at-risk flags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Add/remove students, reset passwords, manage enrolment via CSV bulk upload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Upload question CSVs in Append or Replace mode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Upload study material (text notes, PDF, or image)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Drill down into any student's attempt history and score trend</a:t>
            </a:r>
            <a:endParaRPr lang="en-US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E914E46-635B-A2F9-70F7-9D8471A71E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PROCESS:</a:t>
            </a:r>
            <a:endParaRPr lang="en-US" b="1">
              <a:solidFill>
                <a:schemeClr val="dk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381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660750-CB82-E774-33AC-2D7276D5C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10709"/>
              </p:ext>
            </p:extLst>
          </p:nvPr>
        </p:nvGraphicFramePr>
        <p:xfrm>
          <a:off x="0" y="928687"/>
          <a:ext cx="12191055" cy="594297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3685">
                  <a:extLst>
                    <a:ext uri="{9D8B030D-6E8A-4147-A177-3AD203B41FA5}">
                      <a16:colId xmlns:a16="http://schemas.microsoft.com/office/drawing/2014/main" val="1112175536"/>
                    </a:ext>
                  </a:extLst>
                </a:gridCol>
                <a:gridCol w="4063685">
                  <a:extLst>
                    <a:ext uri="{9D8B030D-6E8A-4147-A177-3AD203B41FA5}">
                      <a16:colId xmlns:a16="http://schemas.microsoft.com/office/drawing/2014/main" val="151194783"/>
                    </a:ext>
                  </a:extLst>
                </a:gridCol>
                <a:gridCol w="4063685">
                  <a:extLst>
                    <a:ext uri="{9D8B030D-6E8A-4147-A177-3AD203B41FA5}">
                      <a16:colId xmlns:a16="http://schemas.microsoft.com/office/drawing/2014/main" val="1758377595"/>
                    </a:ext>
                  </a:extLst>
                </a:gridCol>
              </a:tblGrid>
              <a:tr h="29714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28585"/>
                  </a:ext>
                </a:extLst>
              </a:tr>
              <a:tr h="29714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29927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RESULT &amp;  ANALYSIS: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0E5951-D01B-2FDF-B874-C44A7F03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687"/>
            <a:ext cx="4071937" cy="2976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434568-50E9-FA49-219D-0A08BF253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782" y="928687"/>
            <a:ext cx="4167188" cy="2976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0B75F0-9379-2516-8546-E21AC1C81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813" y="928687"/>
            <a:ext cx="4179093" cy="30003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F64930-0D77-28BF-FE80-B923859B4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05250"/>
            <a:ext cx="3964782" cy="29765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F44F60-CF34-587D-C7FE-0816FDA0D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4781" y="3905249"/>
            <a:ext cx="4071939" cy="2976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A99E6E-6899-34EE-1167-1FC21A86E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718" y="3905250"/>
            <a:ext cx="4179094" cy="295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65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AI Math Tutor Pro successfully delivers adaptive, AI-assisted math practice within a classroom-ready web application.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dual-role design (student + teacher) bridges the gap between self-paced learning and instructor oversight.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Integration with Perplexity AI ensures unlimited, curriculum-aligned question generation beyond static banks.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system is lightweight, deployable with minimal infrastructure, and extensible to other subjects.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cap="none">
                <a:solidFill>
                  <a:srgbClr val="404040"/>
                </a:solidFill>
                <a:latin typeface="Calibri Light"/>
                <a:ea typeface="Calibri Light"/>
                <a:cs typeface="Calibri Light"/>
                <a:sym typeface="Times New Roman"/>
              </a:rPr>
              <a:t> </a:t>
            </a:r>
            <a:r>
              <a:rPr lang="en-IN" sz="3200" b="1" cap="none" dirty="0">
                <a:solidFill>
                  <a:schemeClr val="dk2"/>
                </a:solidFill>
                <a:latin typeface="Times New Roman"/>
                <a:cs typeface="Times New Roman"/>
              </a:rPr>
              <a:t>CONCLUSION</a:t>
            </a:r>
            <a:r>
              <a:rPr lang="en-IN" sz="3200" b="1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lang="en-US" sz="3200" b="1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>
                <a:latin typeface="Times New Roman"/>
                <a:ea typeface="+mn-lt"/>
                <a:cs typeface="Times New Roman"/>
              </a:rPr>
              <a:t>Expand to advanced Mathematics topics with topic-specific AI prompting (Algebra, Geometry, Calculus, Statistics)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Add spaced-repetition scheduling to resurface weak topics automatically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Integrate voice-based tutoring using speech-to-text for accessibility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Deploy as a mobile app (Android/iOS) for offline worksheet access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Multi-language support (Tamil, Hindi) for regional school adoption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cs typeface="Times New Roman"/>
              </a:rPr>
              <a:t>FUTURE</a:t>
            </a:r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 ENHANCEMENT:</a:t>
            </a:r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Liu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2024 | Generative Intelligent Tutoring Systems with GPT-4 | GPT-based tutors provide real-time adaptive feedback and dynamic content generation for personalized learning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Fernández-Herrero </a:t>
            </a:r>
            <a:r>
              <a:rPr lang="en-US" sz="2400">
                <a:latin typeface="Times New Roman"/>
                <a:ea typeface="+mn-lt"/>
                <a:cs typeface="Times New Roman"/>
              </a:rPr>
              <a:t>| 2024 | Affective Intelligent Tutoring Systems Review | Emotion-aware AI tutors enhance motivation, engagement, and learning effectiveness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Létourneau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2025 | AI-Driven Intelligent Tutoring Systems in K-12 Education | Rapid growth of AI tutoring shows significant improvements in learning outcomes and scalable education delivery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Hariyanto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2025 | AI in Adaptive Education | Adaptive learning algorithms personalize instruction using learner analytics and performance data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Latif, Liu &amp; Zhai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2026 | Intelligent and Robot Tutoring Systems Review | AI and robotic tutors expand interactive learning through advanced pedagogical design and automation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REFERENCES:</a:t>
            </a:r>
            <a:endParaRPr lang="en-IN" sz="3200" b="1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9117"/>
            <a:ext cx="10515600" cy="57978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>
                <a:latin typeface="Times New Roman"/>
                <a:cs typeface="Times New Roman"/>
              </a:rPr>
              <a:t>THANK YOU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1238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stutipriyashadangi@outlook.com</cp:lastModifiedBy>
  <cp:revision>992</cp:revision>
  <dcterms:created xsi:type="dcterms:W3CDTF">2025-03-05T00:42:20Z</dcterms:created>
  <dcterms:modified xsi:type="dcterms:W3CDTF">2026-04-29T03:57:55Z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